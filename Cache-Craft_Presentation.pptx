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E5BB"/>
                </a:solidFill>
                <a:latin typeface="Calibri"/>
              </a:rPr>
              <a:t>Cache-Craft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8C5D0"/>
                </a:solidFill>
                <a:latin typeface="Calibri"/>
              </a:rPr>
              <a:t>Intelligent Multi-Tier Semantic Cache Router for LLM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11880"/>
            <a:ext cx="5486400" cy="1905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886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8D"/>
                </a:solidFill>
                <a:latin typeface="Calibri"/>
              </a:rPr>
              <a:t>Final Year Project  ·  Computer Science &amp;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1417320" cy="27432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6459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0F14"/>
                </a:solidFill>
                <a:latin typeface="Calibri"/>
              </a:rPr>
              <a:t>L0  RAM Cache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1645920"/>
            <a:ext cx="1417320" cy="27432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164592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0F14"/>
                </a:solidFill>
                <a:latin typeface="Calibri"/>
              </a:rPr>
              <a:t>L1  Redis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2148840"/>
            <a:ext cx="141732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21488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0F14"/>
                </a:solidFill>
                <a:latin typeface="Calibri"/>
              </a:rPr>
              <a:t>L2  pgvector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2148840"/>
            <a:ext cx="1417320" cy="274320"/>
          </a:xfrm>
          <a:prstGeom prst="rect">
            <a:avLst/>
          </a:prstGeom>
          <a:solidFill>
            <a:srgbClr val="D0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21488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0F14"/>
                </a:solidFill>
                <a:latin typeface="Calibri"/>
              </a:rPr>
              <a:t>L3  LLM Fallback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651760"/>
            <a:ext cx="1417320" cy="27432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6517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0F14"/>
                </a:solidFill>
                <a:latin typeface="Calibri"/>
              </a:rPr>
              <a:t>Semantic Similarity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2651760"/>
            <a:ext cx="1417320" cy="27432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26517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D0F14"/>
                </a:solidFill>
                <a:latin typeface="Calibri"/>
              </a:rPr>
              <a:t>FastAPI + Next.js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Reducing LLM inference costs through intelligent query caching and semantic similarity routing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5D0"/>
                </a:solidFill>
                <a:latin typeface="Calibri"/>
              </a:rPr>
              <a:t>LLM inference is expensive — most queries are semantically redundant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566160" cy="3520440"/>
          </a:xfrm>
          <a:prstGeom prst="rect">
            <a:avLst/>
          </a:prstGeom>
          <a:solidFill>
            <a:srgbClr val="13171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64008" cy="3520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72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💸  High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Every LLM API call consumes tokens. Paraphrased questions pay full price each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81328"/>
            <a:ext cx="3566160" cy="3520440"/>
          </a:xfrm>
          <a:prstGeom prst="rect">
            <a:avLst/>
          </a:prstGeom>
          <a:solidFill>
            <a:srgbClr val="13171F"/>
          </a:solidFill>
          <a:ln w="1905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81328"/>
            <a:ext cx="64008" cy="352044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572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F9CFF"/>
                </a:solidFill>
                <a:latin typeface="Calibri"/>
              </a:rPr>
              <a:t>⏱  Slow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1031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Cold LLM inference takes 2–8 seconds. Users wait for identical answers regenerated.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81328"/>
            <a:ext cx="3566160" cy="3520440"/>
          </a:xfrm>
          <a:prstGeom prst="rect">
            <a:avLst/>
          </a:prstGeom>
          <a:solidFill>
            <a:srgbClr val="13171F"/>
          </a:solidFill>
          <a:ln w="1905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81328"/>
            <a:ext cx="64008" cy="352044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572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BB"/>
                </a:solidFill>
                <a:latin typeface="Calibri"/>
              </a:rPr>
              <a:t>♻  Redundancy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1031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"What is recursion?" and "Explain recursion in Python" are semantically identical yet re-generated.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66360"/>
            <a:ext cx="11430000" cy="1371600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B"/>
                </a:solidFill>
                <a:latin typeface="Calibri"/>
              </a:rPr>
              <a:t>~2,400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33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Typical LLM cold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257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B"/>
                </a:solidFill>
                <a:latin typeface="Calibri"/>
              </a:rPr>
              <a:t>~1.2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833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Cache hit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257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B"/>
                </a:solidFill>
                <a:latin typeface="Calibri"/>
              </a:rPr>
              <a:t>3× faster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833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Speedup on cache hits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257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E5BB"/>
                </a:solidFill>
                <a:latin typeface="Calibri"/>
              </a:rPr>
              <a:t>67%+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833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8D"/>
                </a:solidFill>
                <a:latin typeface="Calibri"/>
              </a:rPr>
              <a:t>Tokens eliminated @ τ=0.85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How Cache-Craft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5D0"/>
                </a:solidFill>
                <a:latin typeface="Calibri"/>
              </a:rPr>
              <a:t>A pluggable semantic caching layer that intercepts queries before they reach the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2057400" cy="2148840"/>
          </a:xfrm>
          <a:prstGeom prst="rect">
            <a:avLst/>
          </a:prstGeom>
          <a:solidFill>
            <a:srgbClr val="13171F"/>
          </a:solidFill>
          <a:ln w="1905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2057400" cy="64008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609344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B"/>
                </a:solidFill>
                <a:latin typeface="Calibri"/>
              </a:rPr>
              <a:t>Query
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28600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User sends a
natural language
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508760"/>
            <a:ext cx="2057400" cy="2148840"/>
          </a:xfrm>
          <a:prstGeom prst="rect">
            <a:avLst/>
          </a:prstGeom>
          <a:solidFill>
            <a:srgbClr val="13171F"/>
          </a:solidFill>
          <a:ln w="1905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508760"/>
            <a:ext cx="2057400" cy="64008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1609344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BB"/>
                </a:solidFill>
                <a:latin typeface="Calibri"/>
              </a:rPr>
              <a:t>L0  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28600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O(1) exact hash
lookup  ~0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508760"/>
            <a:ext cx="2057400" cy="2148840"/>
          </a:xfrm>
          <a:prstGeom prst="rect">
            <a:avLst/>
          </a:prstGeom>
          <a:solidFill>
            <a:srgbClr val="13171F"/>
          </a:solidFill>
          <a:ln w="1905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1508760"/>
            <a:ext cx="2057400" cy="64008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1609344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9CFF"/>
                </a:solidFill>
                <a:latin typeface="Calibri"/>
              </a:rPr>
              <a:t>L1  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28600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In-memory hash
ring  ~1.8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508760"/>
            <a:ext cx="2057400" cy="2148840"/>
          </a:xfrm>
          <a:prstGeom prst="rect">
            <a:avLst/>
          </a:prstGeom>
          <a:solidFill>
            <a:srgbClr val="13171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1508760"/>
            <a:ext cx="20574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1609344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L2  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228600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Cosine ANN search
vector DB  ~25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1508760"/>
            <a:ext cx="2057400" cy="2148840"/>
          </a:xfrm>
          <a:prstGeom prst="rect">
            <a:avLst/>
          </a:prstGeom>
          <a:solidFill>
            <a:srgbClr val="13171F"/>
          </a:solidFill>
          <a:ln w="19050">
            <a:solidFill>
              <a:srgbClr val="D0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21240" y="1508760"/>
            <a:ext cx="2057400" cy="64008"/>
          </a:xfrm>
          <a:prstGeom prst="rect">
            <a:avLst/>
          </a:prstGeom>
          <a:solidFill>
            <a:srgbClr val="D0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30968" y="1609344"/>
            <a:ext cx="187451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05AFF"/>
                </a:solidFill>
                <a:latin typeface="Calibri"/>
              </a:rPr>
              <a:t>L3 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28600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0"/>
                </a:solidFill>
                <a:latin typeface="Calibri"/>
              </a:rPr>
              <a:t>Generate + auto
back-fill to L1/L2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2860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2860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2860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2860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B7A8D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84048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• all-MiniLM-L6-v2 sentence transformer  —  384-dimensional embeddings  —  CPU inference in &lt;20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242816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• pgvector HNSW index for approximate nearest-neighbour similarity search with sub-25 ms P95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645152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• Configurable cosine similarity threshold τ (default 85%)  —  adjustable live via the Settings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04748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• Automatic back-fill: LLM responses auto-written to L1 &amp; L2 so the next similar query hits the cache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4864" cy="530352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B"/>
                </a:solidFill>
                <a:latin typeface="Calibri"/>
              </a:rPr>
              <a:t>FastAPI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Async REST + SSE; /api/query, /api/cache, /api/metrics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54864" cy="530352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9CFF"/>
                </a:solidFill>
                <a:latin typeface="Calibri"/>
              </a:rPr>
              <a:t>CacheRouter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Orchestrates L0→L1→L2 lookup chain + miss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97480"/>
            <a:ext cx="54864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SentenceTransformer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all-MiniLM-L6-v2 — 384-dim vectors, ~15 ms CPU encode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0440"/>
            <a:ext cx="54864" cy="530352"/>
          </a:xfrm>
          <a:prstGeom prst="rect">
            <a:avLst/>
          </a:prstGeom>
          <a:solidFill>
            <a:srgbClr val="E86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55A"/>
                </a:solidFill>
                <a:latin typeface="Calibri"/>
              </a:rPr>
              <a:t>Redis  (L1)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Exact hash ring; O(1) lookup; dual-tier TTL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43400"/>
            <a:ext cx="54864" cy="5303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pgvector  (L2)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PostgreSQL HNSW index; cosine ANN &lt; 25 ms P95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66360"/>
            <a:ext cx="54864" cy="530352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B"/>
                </a:solidFill>
                <a:latin typeface="Calibri"/>
              </a:rPr>
              <a:t>Next.js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Dashboard · Chat Playground · Cache Explorer · Settings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115568"/>
            <a:ext cx="5943600" cy="475488"/>
          </a:xfrm>
          <a:prstGeom prst="rect">
            <a:avLst/>
          </a:prstGeom>
          <a:solidFill>
            <a:srgbClr val="13171F"/>
          </a:solidFill>
          <a:ln w="1270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1887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BB"/>
                </a:solidFill>
                <a:latin typeface="Calibri"/>
              </a:rPr>
              <a:t>Incoming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59105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719072"/>
            <a:ext cx="5943600" cy="475488"/>
          </a:xfrm>
          <a:prstGeom prst="rect">
            <a:avLst/>
          </a:prstGeom>
          <a:solidFill>
            <a:srgbClr val="13171F"/>
          </a:solidFill>
          <a:ln w="1270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7922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5BB"/>
                </a:solidFill>
                <a:latin typeface="Calibri"/>
              </a:rPr>
              <a:t>L0 RAM — exact hash match?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1945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322576"/>
            <a:ext cx="5943600" cy="475488"/>
          </a:xfrm>
          <a:prstGeom prst="rect">
            <a:avLst/>
          </a:prstGeom>
          <a:solidFill>
            <a:srgbClr val="13171F"/>
          </a:solidFill>
          <a:ln w="1270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39572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9CFF"/>
                </a:solidFill>
                <a:latin typeface="Calibri"/>
              </a:rPr>
              <a:t>L1 Redis — hash ring?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79806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926080"/>
            <a:ext cx="5943600" cy="475488"/>
          </a:xfrm>
          <a:prstGeom prst="rect">
            <a:avLst/>
          </a:prstGeom>
          <a:solidFill>
            <a:srgbClr val="13171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99923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L2 pgvector — cosine ANN?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0156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529584"/>
            <a:ext cx="5943600" cy="475488"/>
          </a:xfrm>
          <a:prstGeom prst="rect">
            <a:avLst/>
          </a:prstGeom>
          <a:solidFill>
            <a:srgbClr val="13171F"/>
          </a:solidFill>
          <a:ln w="12700">
            <a:solidFill>
              <a:srgbClr val="D0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602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05AFF"/>
                </a:solidFill>
                <a:latin typeface="Calibri"/>
              </a:rPr>
              <a:t>L3 — LLM generate + back-fill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0050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133087"/>
            <a:ext cx="5943600" cy="475488"/>
          </a:xfrm>
          <a:prstGeom prst="rect">
            <a:avLst/>
          </a:prstGeom>
          <a:solidFill>
            <a:srgbClr val="13171F"/>
          </a:solidFill>
          <a:ln w="12700">
            <a:solidFill>
              <a:srgbClr val="B8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20623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8C5D0"/>
                </a:solidFill>
                <a:latin typeface="Calibri"/>
              </a:rPr>
              <a:t>Return Response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932920" y="1828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BB"/>
                </a:solidFill>
                <a:latin typeface="Calibri"/>
              </a:rPr>
              <a:t>← hit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32920" y="24323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9CFF"/>
                </a:solidFill>
                <a:latin typeface="Calibri"/>
              </a:rPr>
              <a:t>← hit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932920" y="30358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A623"/>
                </a:solidFill>
                <a:latin typeface="Calibri"/>
              </a:rPr>
              <a:t>← hit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Live Dashboard  —  System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0408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5D0"/>
                </a:solidFill>
                <a:latin typeface="Calibri"/>
              </a:rPr>
              <a:t>Real-time telemetry: hit rates, routing pipeline, and per-tier latency</a:t>
            </a:r>
          </a:p>
        </p:txBody>
      </p:sp>
      <p:pic>
        <p:nvPicPr>
          <p:cNvPr id="5" name="Picture 4" descr="05_dashboard_overview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78992"/>
            <a:ext cx="8138160" cy="5440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417320"/>
            <a:ext cx="3474720" cy="777240"/>
          </a:xfrm>
          <a:prstGeom prst="rect">
            <a:avLst/>
          </a:prstGeom>
          <a:solidFill>
            <a:srgbClr val="13171F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47218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E5BB"/>
                </a:solidFill>
                <a:latin typeface="Calibri"/>
              </a:rPr>
              <a:t>70.6%
Global Hit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2331720"/>
            <a:ext cx="3474720" cy="777240"/>
          </a:xfrm>
          <a:prstGeom prst="rect">
            <a:avLst/>
          </a:prstGeom>
          <a:solidFill>
            <a:srgbClr val="13171F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38658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A623"/>
                </a:solidFill>
                <a:latin typeface="Calibri"/>
              </a:rPr>
              <a:t>67.1%
Cost 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3246120"/>
            <a:ext cx="3474720" cy="777240"/>
          </a:xfrm>
          <a:prstGeom prst="rect">
            <a:avLst/>
          </a:prstGeom>
          <a:solidFill>
            <a:srgbClr val="13171F"/>
          </a:solidFill>
          <a:ln w="1524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330098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4F9CFF"/>
                </a:solidFill>
                <a:latin typeface="Calibri"/>
              </a:rPr>
              <a:t>1.2 ms
Avg Cache 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4160520"/>
            <a:ext cx="3474720" cy="777240"/>
          </a:xfrm>
          <a:prstGeom prst="rect">
            <a:avLst/>
          </a:prstGeom>
          <a:solidFill>
            <a:srgbClr val="13171F"/>
          </a:solidFill>
          <a:ln w="15240">
            <a:solidFill>
              <a:srgbClr val="D0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21538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05AFF"/>
                </a:solidFill>
                <a:latin typeface="Calibri"/>
              </a:rPr>
              <a:t>3-Tier Pipeline
Visualised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Chat Playground  —  Tier Routing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chat_exact_hit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669280" cy="5120640"/>
          </a:xfrm>
          <a:prstGeom prst="rect">
            <a:avLst/>
          </a:prstGeom>
        </p:spPr>
      </p:pic>
      <p:pic>
        <p:nvPicPr>
          <p:cNvPr id="6" name="Picture 5" descr="02_chat_semantic_hit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594360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960120"/>
            <a:ext cx="2286000" cy="329184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784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F14"/>
                </a:solidFill>
                <a:latin typeface="Calibri"/>
              </a:rPr>
              <a:t>⚡  L0 Exact Hit  (0.0 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60120"/>
            <a:ext cx="274320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978408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0F14"/>
                </a:solidFill>
                <a:latin typeface="Calibri"/>
              </a:rPr>
              <a:t>🔍  L2 Semantic Hit  (91.4% · 65 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144768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A8D"/>
                </a:solidFill>
                <a:latin typeface="Calibri"/>
              </a:rPr>
              <a:t>Left: Identical repeat query → L0 RAM hit, ~0 ms    |    Right: Paraphrased query → L2 semantic match at 91.4% similarity, 65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L3 Fallback  —  Cache Miss &amp; Auto Back-Fill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5D0"/>
                </a:solidFill>
                <a:latin typeface="Calibri"/>
              </a:rPr>
              <a:t>When all cache tiers miss → LLM generates a fresh answer, then auto-populates L1 &amp; L2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chat_cache_miss_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7223760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261872"/>
            <a:ext cx="4343400" cy="658368"/>
          </a:xfrm>
          <a:prstGeom prst="rect">
            <a:avLst/>
          </a:prstGeom>
          <a:solidFill>
            <a:srgbClr val="13171F"/>
          </a:solidFill>
          <a:ln w="1270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28930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1  Query Arrives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Not in RAM, Redis, or pgvector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057400"/>
            <a:ext cx="4343400" cy="658368"/>
          </a:xfrm>
          <a:prstGeom prst="rect">
            <a:avLst/>
          </a:prstGeom>
          <a:solidFill>
            <a:srgbClr val="13171F"/>
          </a:solidFill>
          <a:ln w="1270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0848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9CFF"/>
                </a:solidFill>
                <a:latin typeface="Calibri"/>
              </a:rPr>
              <a:t>2  Embed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957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Sentence-transformer ~15 ms CPU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852928"/>
            <a:ext cx="4343400" cy="658368"/>
          </a:xfrm>
          <a:prstGeom prst="rect">
            <a:avLst/>
          </a:prstGeom>
          <a:solidFill>
            <a:srgbClr val="13171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880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3  Vector ANN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1912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HNSW index scan — no match found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648456"/>
            <a:ext cx="4343400" cy="658368"/>
          </a:xfrm>
          <a:prstGeom prst="rect">
            <a:avLst/>
          </a:prstGeom>
          <a:solidFill>
            <a:srgbClr val="13171F"/>
          </a:solidFill>
          <a:ln w="12700">
            <a:solidFill>
              <a:srgbClr val="D0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6758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5AFF"/>
                </a:solidFill>
                <a:latin typeface="Calibri"/>
              </a:rPr>
              <a:t>4  LLM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867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Gemini Cloud / local Ollama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4443984"/>
            <a:ext cx="4343400" cy="658368"/>
          </a:xfrm>
          <a:prstGeom prst="rect">
            <a:avLst/>
          </a:prstGeom>
          <a:solidFill>
            <a:srgbClr val="13171F"/>
          </a:solidFill>
          <a:ln w="1270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47141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5  Auto Back-Fill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7823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Response written to L1 Redis + L2 pgvector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5312664"/>
            <a:ext cx="4343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After back-fill, the next similar query hits L0 or L2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Cache Explorer  —  Inspect Stored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5D0"/>
                </a:solidFill>
                <a:latin typeface="Calibri"/>
              </a:rPr>
              <a:t>Browse, search, and manage every cached query-answer pair and its embedding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cache_explorer_v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7680960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261872"/>
            <a:ext cx="3886200" cy="731520"/>
          </a:xfrm>
          <a:prstGeom prst="rect">
            <a:avLst/>
          </a:prstGeom>
          <a:solidFill>
            <a:srgbClr val="13171F"/>
          </a:solidFill>
          <a:ln w="1016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2984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BB"/>
                </a:solidFill>
                <a:latin typeface="Calibri"/>
              </a:rPr>
              <a:t>🔍  Semantic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Filter by query text, vector ID, or cached answer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2103120"/>
            <a:ext cx="3886200" cy="731520"/>
          </a:xfrm>
          <a:prstGeom prst="rect">
            <a:avLst/>
          </a:prstGeom>
          <a:solidFill>
            <a:srgbClr val="13171F"/>
          </a:solidFill>
          <a:ln w="1016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396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F9CFF"/>
                </a:solidFill>
                <a:latin typeface="Calibri"/>
              </a:rPr>
              <a:t>🏷  Tier Badges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414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Each entry shows storage tier: in_memory / Redis / pgvector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2944368"/>
            <a:ext cx="3886200" cy="731520"/>
          </a:xfrm>
          <a:prstGeom prst="rect">
            <a:avLst/>
          </a:prstGeom>
          <a:solidFill>
            <a:srgbClr val="13171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9809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A623"/>
                </a:solidFill>
                <a:latin typeface="Calibri"/>
              </a:rPr>
              <a:t>🔥  Hit Counter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826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Per-entry reuse count — identify your hottest cached topics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785616"/>
            <a:ext cx="3886200" cy="731520"/>
          </a:xfrm>
          <a:prstGeom prst="rect">
            <a:avLst/>
          </a:prstGeom>
          <a:solidFill>
            <a:srgbClr val="13171F"/>
          </a:solidFill>
          <a:ln w="10160">
            <a:solidFill>
              <a:srgbClr val="E86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8221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655A"/>
                </a:solidFill>
                <a:latin typeface="Calibri"/>
              </a:rPr>
              <a:t>🗑  Remove / Flush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1239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Remove individual entries or purge entire cache in one click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4626864"/>
            <a:ext cx="3886200" cy="731520"/>
          </a:xfrm>
          <a:prstGeom prst="rect">
            <a:avLst/>
          </a:prstGeom>
          <a:solidFill>
            <a:srgbClr val="13171F"/>
          </a:solidFill>
          <a:ln w="10160">
            <a:solidFill>
              <a:srgbClr val="B8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6634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8C5D0"/>
                </a:solidFill>
                <a:latin typeface="Calibri"/>
              </a:rPr>
              <a:t>📅  Timestamps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651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Cached datetime + TTL visibility for lifecycle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Configuration  —  Live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5D0"/>
                </a:solidFill>
                <a:latin typeface="Calibri"/>
              </a:rPr>
              <a:t>Operators can tune threshold, TTL, and LLM provider without restarting the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settings_threshold_and_t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7680960" cy="5349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261872"/>
            <a:ext cx="3886200" cy="1078992"/>
          </a:xfrm>
          <a:prstGeom prst="rect">
            <a:avLst/>
          </a:prstGeom>
          <a:solidFill>
            <a:srgbClr val="13171F"/>
          </a:solidFill>
          <a:ln w="1016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31673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Similarity Threshold 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6420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Slider 30%→99%. Default 85% = balanced precision-recall. Shown as percentage in 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2450592"/>
            <a:ext cx="3886200" cy="1078992"/>
          </a:xfrm>
          <a:prstGeom prst="rect">
            <a:avLst/>
          </a:prstGeom>
          <a:solidFill>
            <a:srgbClr val="13171F"/>
          </a:solidFill>
          <a:ln w="1016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505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Cache TTL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85292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Per-tier expiry: 1h / 6h / 24h / 7d / 30d / Permanent. Dual-tier: Redis EX + pgvector expires_at.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639312"/>
            <a:ext cx="3886200" cy="1078992"/>
          </a:xfrm>
          <a:prstGeom prst="rect">
            <a:avLst/>
          </a:prstGeom>
          <a:solidFill>
            <a:srgbClr val="13171F"/>
          </a:solidFill>
          <a:ln w="1016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6941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9CFF"/>
                </a:solidFill>
                <a:latin typeface="Calibri"/>
              </a:rPr>
              <a:t>LLM Inference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4164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Switch between Gemini Cloud and local Ollama without service restart.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4828032"/>
            <a:ext cx="3886200" cy="1078992"/>
          </a:xfrm>
          <a:prstGeom prst="rect">
            <a:avLst/>
          </a:prstGeom>
          <a:solidFill>
            <a:srgbClr val="13171F"/>
          </a:solidFill>
          <a:ln w="10160">
            <a:solidFill>
              <a:srgbClr val="D0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8828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05AFF"/>
                </a:solidFill>
                <a:latin typeface="Calibri"/>
              </a:rPr>
              <a:t>Network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3036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0"/>
                </a:solidFill>
                <a:latin typeface="Calibri"/>
              </a:rPr>
              <a:t>3.5 s circuit breaker auto-switches to offline LLM when cloud is unreachable.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Benchmark: 1,200 queries (500 paraphrases · 200 negatives · 500 seeds)  —  in-memory semantic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70432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697480" cy="1508760"/>
          </a:xfrm>
          <a:prstGeom prst="rect">
            <a:avLst/>
          </a:prstGeom>
          <a:solidFill>
            <a:srgbClr val="13171F"/>
          </a:solidFill>
          <a:ln w="1905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E5BB"/>
                </a:solidFill>
                <a:latin typeface="Calibri"/>
              </a:rPr>
              <a:t>96.8%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Precision @ τ=0.85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2697480" cy="1508760"/>
          </a:xfrm>
          <a:prstGeom prst="rect">
            <a:avLst/>
          </a:prstGeom>
          <a:solidFill>
            <a:srgbClr val="13171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8988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A623"/>
                </a:solidFill>
                <a:latin typeface="Calibri"/>
              </a:rPr>
              <a:t>81.2%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128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Recall @ τ=0.85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2697480" cy="1508760"/>
          </a:xfrm>
          <a:prstGeom prst="rect">
            <a:avLst/>
          </a:prstGeom>
          <a:solidFill>
            <a:srgbClr val="13171F"/>
          </a:solidFill>
          <a:ln w="1905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8988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F9CFF"/>
                </a:solidFill>
                <a:latin typeface="Calibri"/>
              </a:rPr>
              <a:t>88.4%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128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F1 Score @ τ=0.85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325880"/>
            <a:ext cx="2697480" cy="1508760"/>
          </a:xfrm>
          <a:prstGeom prst="rect">
            <a:avLst/>
          </a:prstGeom>
          <a:solidFill>
            <a:srgbClr val="13171F"/>
          </a:solidFill>
          <a:ln w="19050">
            <a:solidFill>
              <a:srgbClr val="D0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8988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05AFF"/>
                </a:solidFill>
                <a:latin typeface="Calibri"/>
              </a:rPr>
              <a:t>~3×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1284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Speedup vs Cold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Threshold Sweep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01568"/>
            <a:ext cx="1097280" cy="347472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290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  <a:latin typeface="Calibri"/>
              </a:rPr>
              <a:t>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2768" y="3401568"/>
            <a:ext cx="1371600" cy="347472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8488" y="34290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  <a:latin typeface="Calibri"/>
              </a:rPr>
              <a:t>Precision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08376" y="3401568"/>
            <a:ext cx="1371600" cy="347472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4290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  <a:latin typeface="Calibri"/>
              </a:rPr>
              <a:t>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3984" y="3401568"/>
            <a:ext cx="1371600" cy="347472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34290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0F14"/>
                </a:solidFill>
                <a:latin typeface="Calibri"/>
              </a:rPr>
              <a:t>F1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749040"/>
            <a:ext cx="109728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85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0.70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72768" y="3749040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18488" y="3785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85.7%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08376" y="3749040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4096" y="3785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96.2%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3984" y="3749040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90.6%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078224"/>
            <a:ext cx="109728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114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0.75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72768" y="4078224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18488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91.4%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08376" y="4078224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54096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93.0%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3984" y="4078224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9704" y="4114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92.2%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407408"/>
            <a:ext cx="109728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443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0.80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72768" y="4407408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18488" y="4443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94.3%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08376" y="4407408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54096" y="4443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88.2%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43984" y="4407408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9704" y="4443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91.1%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736592"/>
            <a:ext cx="1097280" cy="329184"/>
          </a:xfrm>
          <a:prstGeom prst="rect">
            <a:avLst/>
          </a:prstGeom>
          <a:solidFill>
            <a:srgbClr val="1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773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0.85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72768" y="4736592"/>
            <a:ext cx="1371600" cy="329184"/>
          </a:xfrm>
          <a:prstGeom prst="rect">
            <a:avLst/>
          </a:prstGeom>
          <a:solidFill>
            <a:srgbClr val="1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18488" y="4773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96.8%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08376" y="4736592"/>
            <a:ext cx="1371600" cy="329184"/>
          </a:xfrm>
          <a:prstGeom prst="rect">
            <a:avLst/>
          </a:prstGeom>
          <a:solidFill>
            <a:srgbClr val="1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54096" y="4773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81.2%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4" y="4736592"/>
            <a:ext cx="1371600" cy="329184"/>
          </a:xfrm>
          <a:prstGeom prst="rect">
            <a:avLst/>
          </a:prstGeom>
          <a:solidFill>
            <a:srgbClr val="1A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9704" y="4773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88.4%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65776"/>
            <a:ext cx="109728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1023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0.90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72768" y="5065776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18488" y="5102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98.6%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08376" y="5065776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54096" y="5102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60.4%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43984" y="5065776"/>
            <a:ext cx="1371600" cy="329184"/>
          </a:xfrm>
          <a:prstGeom prst="rect">
            <a:avLst/>
          </a:prstGeom>
          <a:solidFill>
            <a:srgbClr val="13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9704" y="5102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5D0"/>
                </a:solidFill>
                <a:latin typeface="Calibri"/>
              </a:rPr>
              <a:t>74.9%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2971800"/>
            <a:ext cx="5715000" cy="3520440"/>
          </a:xfrm>
          <a:prstGeom prst="rect">
            <a:avLst/>
          </a:prstGeom>
          <a:solidFill>
            <a:srgbClr val="13171F"/>
          </a:solidFill>
          <a:ln w="1524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30632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9CFF"/>
                </a:solidFill>
                <a:latin typeface="Calibri"/>
              </a:rPr>
              <a:t>Latency Benchmarks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3520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L0 RAM hit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40" y="3520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E5BB"/>
                </a:solidFill>
                <a:latin typeface="Calibri"/>
              </a:rPr>
              <a:t>~0 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L1 Redis hit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40" y="4023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4F9CFF"/>
                </a:solidFill>
                <a:latin typeface="Calibri"/>
              </a:rPr>
              <a:t>~1.8 ms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5262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L2 pgvector hit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4526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A623"/>
                </a:solidFill>
                <a:latin typeface="Calibri"/>
              </a:rPr>
              <a:t>~25 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55080" y="50292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L3 LLM cold call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92640" y="5029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8655A"/>
                </a:solidFill>
                <a:latin typeface="Calibri"/>
              </a:rPr>
              <a:t>~2,400 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55080" y="5532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0"/>
                </a:solidFill>
                <a:latin typeface="Calibri"/>
              </a:rPr>
              <a:t>Embedding (CPU)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92640" y="5532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8C5D0"/>
                </a:solidFill>
                <a:latin typeface="Calibri"/>
              </a:rPr>
              <a:t>~15 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3703320" cy="5394960"/>
          </a:xfrm>
          <a:prstGeom prst="rect">
            <a:avLst/>
          </a:prstGeom>
          <a:solidFill>
            <a:srgbClr val="13171F"/>
          </a:solidFill>
          <a:ln w="1524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3703320" cy="457200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F14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▸ 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Async Python REST + SSE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▸  Python 3.11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Core language &amp; async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9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▸  Sentence-Transformers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638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all-MiniLM-L6-v2 embeddings, 384-dim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▸  pgvector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PostgreSQL ANN extension (HNSW)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B"/>
                </a:solidFill>
                <a:latin typeface="Calibri"/>
              </a:rPr>
              <a:t>▸  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Exact-match hash ring + TTL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19" y="1005840"/>
            <a:ext cx="3703320" cy="5394960"/>
          </a:xfrm>
          <a:prstGeom prst="rect">
            <a:avLst/>
          </a:prstGeom>
          <a:solidFill>
            <a:srgbClr val="13171F"/>
          </a:solidFill>
          <a:ln w="15240">
            <a:solidFill>
              <a:srgbClr val="4F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19" y="1005840"/>
            <a:ext cx="3703320" cy="457200"/>
          </a:xfrm>
          <a:prstGeom prst="rect">
            <a:avLst/>
          </a:prstGeom>
          <a:solidFill>
            <a:srgbClr val="4F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F14"/>
                </a:solidFill>
                <a:latin typeface="Calibri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15727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9CFF"/>
                </a:solidFill>
                <a:latin typeface="Calibri"/>
              </a:rPr>
              <a:t>▸  Next.js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1847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App Router, TypeScript, SSR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22311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9CFF"/>
                </a:solidFill>
                <a:latin typeface="Calibri"/>
              </a:rPr>
              <a:t>▸  TailwindCSS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25054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Utility-first styling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2889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9CFF"/>
                </a:solidFill>
                <a:latin typeface="Calibri"/>
              </a:rPr>
              <a:t>▸  ShadCN/UI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31638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Component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3547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9CFF"/>
                </a:solidFill>
                <a:latin typeface="Calibri"/>
              </a:rPr>
              <a:t>▸  SSE Streaming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38221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Real-time telemetry updates from 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58" y="1005840"/>
            <a:ext cx="3703320" cy="5394960"/>
          </a:xfrm>
          <a:prstGeom prst="rect">
            <a:avLst/>
          </a:prstGeom>
          <a:solidFill>
            <a:srgbClr val="13171F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66758" y="1005840"/>
            <a:ext cx="370332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8" y="10515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0F14"/>
                </a:solidFill>
                <a:latin typeface="Calibri"/>
              </a:rPr>
              <a:t>DevOps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8" y="15727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▸  Docker Compose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8" y="18470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Multi-service 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8" y="22311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▸  PostgreSQL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18" y="25054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Primary data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8" y="2889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▸  HNSW Index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8" y="31638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Efficient ANN for pgvector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8" y="3547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▸  Railway / Fly.io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18" y="38221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0"/>
                </a:solidFill>
                <a:latin typeface="Calibri"/>
              </a:rPr>
              <a:t>Cloud deployment targets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91672" cy="19050"/>
          </a:xfrm>
          <a:prstGeom prst="rect">
            <a:avLst/>
          </a:prstGeom>
          <a:solidFill>
            <a:srgbClr val="1E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BB"/>
                </a:solidFill>
                <a:latin typeface="Calibri"/>
              </a:rP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Built a working 3-tier semantic cache router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Achieved 88.4% F1 at τ = 0.85 on a 1,200-query 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311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Measured ~3× latency speedup over cold LLM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151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Full-stack implementation: FastAPI + Next.js +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992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Live dashboard with real-time telemetry and cache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Configurable threshold, TTL, and LLM provider at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02412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Future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Multi-tenant isolation: per-user cache namespaces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4708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Adaptive threshold: auto-tune τ from live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3113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Cross-session context continuity and session stitching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1518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Distributed cache sharding for horizontal 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992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Fine-tuned domain-specific embedding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832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0"/>
                </a:solidFill>
                <a:latin typeface="Calibri"/>
              </a:rPr>
              <a:t>• Cost analytics dashboard with API-spend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897880"/>
            <a:ext cx="11430000" cy="731520"/>
          </a:xfrm>
          <a:prstGeom prst="rect">
            <a:avLst/>
          </a:prstGeom>
          <a:solidFill>
            <a:srgbClr val="13171F"/>
          </a:solidFill>
          <a:ln w="12700">
            <a:solidFill>
              <a:srgbClr val="00E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8C5D0"/>
                </a:solidFill>
                <a:latin typeface="Calibri"/>
              </a:rPr>
              <a:t>Cache-Craft demonstrates that a lightweight semantic caching layer can significantly reduce LLM inference costs and latency — making AI assistants faster, cheaper, and more scalable.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